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530" r:id="rId5"/>
    <p:sldId id="531" r:id="rId6"/>
    <p:sldId id="547" r:id="rId7"/>
    <p:sldId id="548" r:id="rId8"/>
    <p:sldId id="549" r:id="rId9"/>
    <p:sldId id="550" r:id="rId10"/>
    <p:sldId id="551" r:id="rId11"/>
    <p:sldId id="552" r:id="rId12"/>
    <p:sldId id="553" r:id="rId13"/>
    <p:sldId id="554" r:id="rId14"/>
    <p:sldId id="556" r:id="rId15"/>
    <p:sldId id="555" r:id="rId16"/>
    <p:sldId id="533" r:id="rId17"/>
    <p:sldId id="54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24-Jun-25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s-Latn-BA" sz="3200" noProof="0" dirty="0"/>
              <a:t>Use of a llm and constraint programming paradigm for solving combinatorial problems</a:t>
            </a:r>
            <a:endParaRPr lang="en-US" sz="32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Zaim Mehić, Faculty of Information Technologies</a:t>
            </a:r>
          </a:p>
          <a:p>
            <a:r>
              <a:rPr lang="bs-Latn-BA" noProof="0" dirty="0"/>
              <a:t>“Džemal Bijedić“ University of Mostar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noProof="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noProof="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bs-Latn-BA" noProof="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Methods</a:t>
            </a:r>
            <a:endParaRPr lang="en-US" noProof="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bs-Latn-BA" noProof="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Results</a:t>
            </a:r>
            <a:endParaRPr lang="en-US" noProof="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bs-Latn-BA" noProof="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Discussion</a:t>
            </a:r>
            <a:endParaRPr lang="en-US" noProof="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1D9B-1D42-B36D-0A68-632F004D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3BC9-E659-2B8E-FAB3-C0935854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introduction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105318-B6F2-EB71-0935-16A2F376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06BC7-C0C8-9CAD-446F-73418DAB9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39696"/>
            <a:ext cx="7053232" cy="2578608"/>
          </a:xfrm>
        </p:spPr>
        <p:txBody>
          <a:bodyPr/>
          <a:lstStyle/>
          <a:p>
            <a:r>
              <a:rPr lang="bs-Latn-BA" noProof="0" dirty="0"/>
              <a:t>Scheduling problems belong to Combinatorial problems.</a:t>
            </a:r>
          </a:p>
          <a:p>
            <a:r>
              <a:rPr lang="bs-Latn-BA" dirty="0"/>
              <a:t>Large Language Model </a:t>
            </a:r>
          </a:p>
          <a:p>
            <a:r>
              <a:rPr lang="bs-Latn-BA" dirty="0"/>
              <a:t>Solving one with the help of the other!</a:t>
            </a:r>
            <a:endParaRPr lang="en-US" noProof="0" dirty="0"/>
          </a:p>
          <a:p>
            <a:r>
              <a:rPr lang="bs-Latn-BA" noProof="0" dirty="0"/>
              <a:t>If proven successfull benefits could be seen in fields such as: education, sports, manufacturing, agriculture and more.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910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7F5B-040A-B62D-B0E8-D81668E5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5EF0-F8A7-25BD-8950-A1C81867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MEtHODS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14CF74-6A43-2517-32B2-1A6713DB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8C14D-682A-DDF8-422C-F2748F7DC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39696"/>
            <a:ext cx="7053232" cy="3895344"/>
          </a:xfrm>
        </p:spPr>
        <p:txBody>
          <a:bodyPr/>
          <a:lstStyle/>
          <a:p>
            <a:r>
              <a:rPr lang="bs-Latn-BA" noProof="0" dirty="0"/>
              <a:t>Google OR-Tools – Solve our constraint programming problem;</a:t>
            </a:r>
          </a:p>
          <a:p>
            <a:r>
              <a:rPr lang="bs-Latn-BA" dirty="0"/>
              <a:t>Roslyn – Compiling C# code at runtime;</a:t>
            </a:r>
          </a:p>
          <a:p>
            <a:r>
              <a:rPr lang="bs-Latn-BA" noProof="0" dirty="0"/>
              <a:t>OpenAI‘</a:t>
            </a:r>
            <a:r>
              <a:rPr lang="bs-Latn-BA" dirty="0"/>
              <a:t>s chat client – Generate constraints written in C# code based on users prompts.</a:t>
            </a:r>
          </a:p>
          <a:p>
            <a:r>
              <a:rPr lang="bs-Latn-BA" dirty="0"/>
              <a:t>The problem: Create a shift schedule for employees based on the following variables: </a:t>
            </a:r>
          </a:p>
          <a:p>
            <a:pPr lvl="1"/>
            <a:r>
              <a:rPr lang="bs-Latn-BA" dirty="0"/>
              <a:t>Number of employees;</a:t>
            </a:r>
          </a:p>
          <a:p>
            <a:pPr lvl="1"/>
            <a:r>
              <a:rPr lang="bs-Latn-BA" dirty="0"/>
              <a:t>Number of days;</a:t>
            </a:r>
          </a:p>
          <a:p>
            <a:pPr lvl="1"/>
            <a:r>
              <a:rPr lang="bs-Latn-BA" dirty="0"/>
              <a:t>Number of shifts;</a:t>
            </a:r>
          </a:p>
          <a:p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384665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4874-3C97-5069-B7C1-9E99CFFE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76BE-0870-E27D-6820-CE135F25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MEtHODS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1FC796-7299-D546-CCC4-686D53BA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A01F4E6-5BAC-C951-B6E0-221E1EFD46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87269" y="2104129"/>
            <a:ext cx="6017462" cy="3930911"/>
          </a:xfrm>
        </p:spPr>
      </p:pic>
    </p:spTree>
    <p:extLst>
      <p:ext uri="{BB962C8B-B14F-4D97-AF65-F5344CB8AC3E}">
        <p14:creationId xmlns:p14="http://schemas.microsoft.com/office/powerpoint/2010/main" val="304879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D11F-7A9C-C79D-383B-081A8246A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5411AC-78A7-128F-6EEE-0E4AD996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74690-C489-C7EC-E6A5-D3804B6EE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45" y="399054"/>
            <a:ext cx="4536311" cy="6059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6F0786-A47B-1864-106D-9F5097B6A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924" y="411480"/>
            <a:ext cx="5003502" cy="604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5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342A-3265-BCBA-B974-B888143B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42072F-1E95-FF9B-2E53-1A001F2E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60FBF-C191-25E0-F0B9-6E7DC676B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04" y="514506"/>
            <a:ext cx="5670591" cy="582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5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F530-A820-FA78-6C3C-B6FDFC58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DC499E-88C7-A80F-6BE0-27AF1C7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45289-ADF5-E0AA-DFB0-B2ED4DC9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571101"/>
            <a:ext cx="5087060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A427-9514-D86E-D5A9-1FA4DBAB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31DC-47CA-1DD7-861E-AFC881BD0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noProof="0" dirty="0"/>
              <a:t>RESULTS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EA064B-A59A-20FB-02A9-B1F3E4A1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58782-AB76-1999-CF8C-BCF6733C1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39696"/>
            <a:ext cx="7053232" cy="3895344"/>
          </a:xfrm>
        </p:spPr>
        <p:txBody>
          <a:bodyPr/>
          <a:lstStyle/>
          <a:p>
            <a:r>
              <a:rPr lang="bs-Latn-BA" dirty="0"/>
              <a:t>Variable values:</a:t>
            </a:r>
          </a:p>
          <a:p>
            <a:pPr lvl="1"/>
            <a:r>
              <a:rPr lang="bs-Latn-BA" dirty="0"/>
              <a:t>Days – 5</a:t>
            </a:r>
          </a:p>
          <a:p>
            <a:pPr lvl="1"/>
            <a:r>
              <a:rPr lang="bs-Latn-BA" dirty="0"/>
              <a:t>Shifts – 3</a:t>
            </a:r>
          </a:p>
          <a:p>
            <a:pPr lvl="1"/>
            <a:r>
              <a:rPr lang="bs-Latn-BA" dirty="0"/>
              <a:t>Employees – 4</a:t>
            </a:r>
          </a:p>
          <a:p>
            <a:r>
              <a:rPr lang="bs-Latn-BA" dirty="0"/>
              <a:t>Constraint prompts:</a:t>
            </a:r>
          </a:p>
          <a:p>
            <a:pPr lvl="1"/>
            <a:r>
              <a:rPr lang="bs-Latn-BA" dirty="0"/>
              <a:t>Each shift needs to be assigned to exactly one employee.</a:t>
            </a:r>
          </a:p>
          <a:p>
            <a:pPr lvl="1"/>
            <a:r>
              <a:rPr lang="bs-Latn-BA" dirty="0"/>
              <a:t>Each employee needs to work mostly one shift per day and not more.</a:t>
            </a:r>
          </a:p>
          <a:p>
            <a:pPr lvl="1"/>
            <a:r>
              <a:rPr lang="bs-Latn-BA" dirty="0"/>
              <a:t>Employee 0 most not be working any shifts on Day 4.</a:t>
            </a:r>
          </a:p>
          <a:p>
            <a:pPr lvl="1"/>
            <a:r>
              <a:rPr lang="bs-Latn-BA" dirty="0"/>
              <a:t>No employee works the same shift two days in a row.</a:t>
            </a:r>
          </a:p>
          <a:p>
            <a:pPr lvl="1"/>
            <a:r>
              <a:rPr lang="bs-Latn-BA" dirty="0"/>
              <a:t>Each employee gets at least one day off.</a:t>
            </a:r>
          </a:p>
          <a:p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244706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5338-503D-93CC-E45B-EB3F2D83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6C45F3-C5B7-DBC5-F47C-64AD8919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10</a:t>
            </a:fld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A661FC-69B5-D896-787C-ACF798EB4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38015"/>
              </p:ext>
            </p:extLst>
          </p:nvPr>
        </p:nvGraphicFramePr>
        <p:xfrm>
          <a:off x="2029325" y="738898"/>
          <a:ext cx="8471528" cy="5602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2576">
                  <a:extLst>
                    <a:ext uri="{9D8B030D-6E8A-4147-A177-3AD203B41FA5}">
                      <a16:colId xmlns:a16="http://schemas.microsoft.com/office/drawing/2014/main" val="447693295"/>
                    </a:ext>
                  </a:extLst>
                </a:gridCol>
                <a:gridCol w="3552576">
                  <a:extLst>
                    <a:ext uri="{9D8B030D-6E8A-4147-A177-3AD203B41FA5}">
                      <a16:colId xmlns:a16="http://schemas.microsoft.com/office/drawing/2014/main" val="3292260261"/>
                    </a:ext>
                  </a:extLst>
                </a:gridCol>
                <a:gridCol w="1366376">
                  <a:extLst>
                    <a:ext uri="{9D8B030D-6E8A-4147-A177-3AD203B41FA5}">
                      <a16:colId xmlns:a16="http://schemas.microsoft.com/office/drawing/2014/main" val="1900412111"/>
                    </a:ext>
                  </a:extLst>
                </a:gridCol>
              </a:tblGrid>
              <a:tr h="254677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Day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Solution #1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812692"/>
                  </a:ext>
                </a:extLst>
              </a:tr>
              <a:tr h="2546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Employee</a:t>
                      </a:r>
                      <a:endParaRPr lang="en-US" sz="14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Shift</a:t>
                      </a:r>
                      <a:endParaRPr lang="en-US" sz="14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2539088"/>
                  </a:ext>
                </a:extLst>
              </a:tr>
              <a:tr h="33957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0682825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3688688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3572111"/>
                  </a:ext>
                </a:extLst>
              </a:tr>
              <a:tr h="33957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3976053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9908453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5124656"/>
                  </a:ext>
                </a:extLst>
              </a:tr>
              <a:tr h="33957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0221863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1823184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2995745"/>
                  </a:ext>
                </a:extLst>
              </a:tr>
              <a:tr h="33957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2587037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5377527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0104474"/>
                  </a:ext>
                </a:extLst>
              </a:tr>
              <a:tr h="33957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3564812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9866249"/>
                  </a:ext>
                </a:extLst>
              </a:tr>
              <a:tr h="3395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389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25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F1AC-C903-5BD8-E3E4-ED276038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ABCFDE-BE9C-06F7-7FB9-A2120485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11</a:t>
            </a:fld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AB53E9-B227-264A-C485-F8EAF24BD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901206"/>
              </p:ext>
            </p:extLst>
          </p:nvPr>
        </p:nvGraphicFramePr>
        <p:xfrm>
          <a:off x="2064773" y="806246"/>
          <a:ext cx="8583561" cy="5407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9558">
                  <a:extLst>
                    <a:ext uri="{9D8B030D-6E8A-4147-A177-3AD203B41FA5}">
                      <a16:colId xmlns:a16="http://schemas.microsoft.com/office/drawing/2014/main" val="342911308"/>
                    </a:ext>
                  </a:extLst>
                </a:gridCol>
                <a:gridCol w="3599558">
                  <a:extLst>
                    <a:ext uri="{9D8B030D-6E8A-4147-A177-3AD203B41FA5}">
                      <a16:colId xmlns:a16="http://schemas.microsoft.com/office/drawing/2014/main" val="2941215105"/>
                    </a:ext>
                  </a:extLst>
                </a:gridCol>
                <a:gridCol w="1384445">
                  <a:extLst>
                    <a:ext uri="{9D8B030D-6E8A-4147-A177-3AD203B41FA5}">
                      <a16:colId xmlns:a16="http://schemas.microsoft.com/office/drawing/2014/main" val="1854463283"/>
                    </a:ext>
                  </a:extLst>
                </a:gridCol>
              </a:tblGrid>
              <a:tr h="252799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Day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Solution #2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812969"/>
                  </a:ext>
                </a:extLst>
              </a:tr>
              <a:tr h="2527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Employee</a:t>
                      </a:r>
                      <a:endParaRPr lang="en-US" sz="16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Shift</a:t>
                      </a:r>
                      <a:endParaRPr lang="en-US" sz="16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959833"/>
                  </a:ext>
                </a:extLst>
              </a:tr>
              <a:tr h="32681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9238123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8087655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3010323"/>
                  </a:ext>
                </a:extLst>
              </a:tr>
              <a:tr h="32681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6834647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3919019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184107"/>
                  </a:ext>
                </a:extLst>
              </a:tr>
              <a:tr h="32681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6352148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9151924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6456464"/>
                  </a:ext>
                </a:extLst>
              </a:tr>
              <a:tr h="32681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9557412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2435669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7340436"/>
                  </a:ext>
                </a:extLst>
              </a:tr>
              <a:tr h="326810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2088676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1304233"/>
                  </a:ext>
                </a:extLst>
              </a:tr>
              <a:tr h="326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5166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65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3D41-1A16-AC70-9767-B12C48E2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A62BCC-2C6C-A944-3AE9-70F9039D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noProof="0" smtClean="0"/>
              <a:t>12</a:t>
            </a:fld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CB6C3B-CD56-193F-8535-428F520EF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21863"/>
              </p:ext>
            </p:extLst>
          </p:nvPr>
        </p:nvGraphicFramePr>
        <p:xfrm>
          <a:off x="1976284" y="722377"/>
          <a:ext cx="8681884" cy="5462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0790">
                  <a:extLst>
                    <a:ext uri="{9D8B030D-6E8A-4147-A177-3AD203B41FA5}">
                      <a16:colId xmlns:a16="http://schemas.microsoft.com/office/drawing/2014/main" val="1595262451"/>
                    </a:ext>
                  </a:extLst>
                </a:gridCol>
                <a:gridCol w="3640790">
                  <a:extLst>
                    <a:ext uri="{9D8B030D-6E8A-4147-A177-3AD203B41FA5}">
                      <a16:colId xmlns:a16="http://schemas.microsoft.com/office/drawing/2014/main" val="679043871"/>
                    </a:ext>
                  </a:extLst>
                </a:gridCol>
                <a:gridCol w="1400304">
                  <a:extLst>
                    <a:ext uri="{9D8B030D-6E8A-4147-A177-3AD203B41FA5}">
                      <a16:colId xmlns:a16="http://schemas.microsoft.com/office/drawing/2014/main" val="2958781711"/>
                    </a:ext>
                  </a:extLst>
                </a:gridCol>
              </a:tblGrid>
              <a:tr h="248278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Day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Solution #3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51764"/>
                  </a:ext>
                </a:extLst>
              </a:tr>
              <a:tr h="24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Employee</a:t>
                      </a:r>
                      <a:endParaRPr lang="en-US" sz="16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Shift</a:t>
                      </a:r>
                      <a:endParaRPr lang="en-US" sz="16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8755988"/>
                  </a:ext>
                </a:extLst>
              </a:tr>
              <a:tr h="331037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8409504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4624407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3708745"/>
                  </a:ext>
                </a:extLst>
              </a:tr>
              <a:tr h="331037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7035482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9164815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52958768"/>
                  </a:ext>
                </a:extLst>
              </a:tr>
              <a:tr h="331037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592893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6193911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 dirty="0">
                          <a:effectLst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7601924"/>
                  </a:ext>
                </a:extLst>
              </a:tr>
              <a:tr h="331037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7802748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2956696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5834491"/>
                  </a:ext>
                </a:extLst>
              </a:tr>
              <a:tr h="331037">
                <a:tc rowSpan="3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1176001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7709384"/>
                  </a:ext>
                </a:extLst>
              </a:tr>
              <a:tr h="33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846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813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s-Latn-BA" noProof="0" dirty="0"/>
              <a:t>DISCUSSION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s-Latn-BA" dirty="0"/>
              <a:t>Solutions take 4 constraints into consideration without taking the last one.</a:t>
            </a:r>
          </a:p>
          <a:p>
            <a:r>
              <a:rPr lang="bs-Latn-BA" noProof="0" dirty="0"/>
              <a:t>Initial system prompt needs to be corrected </a:t>
            </a:r>
            <a:r>
              <a:rPr lang="bs-Latn-BA" dirty="0"/>
              <a:t>since it doesn‘t provide the application with the correct code every time.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noProof="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bs-Latn-BA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Zaim Mehic</a:t>
            </a:r>
            <a:r>
              <a:rPr lang="en-US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​</a:t>
            </a:r>
          </a:p>
          <a:p>
            <a:pPr algn="l"/>
            <a:r>
              <a:rPr lang="bs-Latn-BA" dirty="0">
                <a:latin typeface="Segoe UI Light" panose="020B0502040204020203" pitchFamily="34" charset="0"/>
                <a:ea typeface="Calibri" panose="020F0502020204030204"/>
                <a:cs typeface="Segoe UI Light" panose="020B0502040204020203" pitchFamily="34" charset="0"/>
              </a:rPr>
              <a:t>zaim.mehic@edu.fit.ba</a:t>
            </a:r>
            <a:endParaRPr lang="en-US" noProof="0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179</TotalTime>
  <Words>395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Segoe UI Light</vt:lpstr>
      <vt:lpstr>Times New Roman</vt:lpstr>
      <vt:lpstr>Tw Cen MT</vt:lpstr>
      <vt:lpstr>Office Theme</vt:lpstr>
      <vt:lpstr>Use of a llm and constraint programming paradigm for solving combinatorial problems</vt:lpstr>
      <vt:lpstr>CONTENTS</vt:lpstr>
      <vt:lpstr>introduction</vt:lpstr>
      <vt:lpstr>MEtHODS</vt:lpstr>
      <vt:lpstr>MEtHODS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DISCUSSION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Zaim Mehić</dc:creator>
  <cp:lastModifiedBy>Zaim Mehić</cp:lastModifiedBy>
  <cp:revision>7</cp:revision>
  <dcterms:created xsi:type="dcterms:W3CDTF">2025-06-07T19:58:00Z</dcterms:created>
  <dcterms:modified xsi:type="dcterms:W3CDTF">2025-06-24T16:43:08Z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